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6" d="100"/>
          <a:sy n="86" d="100"/>
        </p:scale>
        <p:origin x="93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415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001825">
              <a:alpha val="70000"/>
            </a:srgbClr>
          </a:solidFill>
          <a:ln w="12700">
            <a:solidFill>
              <a:srgbClr val="06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D0D20">
              <a:alpha val="70000"/>
            </a:srgbClr>
          </a:solidFill>
          <a:ln w="12700">
            <a:solidFill>
              <a:srgbClr val="060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53101" y="47584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NEXTHIKE IT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– Jitin Singh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370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47365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4434840"/>
            <a:ext cx="9144" cy="5486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4370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83080" y="47365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4434840"/>
            <a:ext cx="9144" cy="5486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370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63240" y="47365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4434840"/>
            <a:ext cx="9144" cy="5486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370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43400" y="47365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777240"/>
            <a:ext cx="1645920" cy="3108960"/>
          </a:xfrm>
          <a:prstGeom prst="roundRect">
            <a:avLst>
              <a:gd name="adj" fmla="val 11111"/>
            </a:avLst>
          </a:prstGeom>
          <a:solidFill>
            <a:srgbClr val="0D1524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1280160"/>
            <a:ext cx="493776" cy="82296"/>
          </a:xfrm>
          <a:prstGeom prst="rect">
            <a:avLst/>
          </a:prstGeom>
          <a:solidFill>
            <a:srgbClr val="00E5FF">
              <a:alpha val="9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57770" y="1508760"/>
            <a:ext cx="395021" cy="82296"/>
          </a:xfrm>
          <a:prstGeom prst="rect">
            <a:avLst/>
          </a:prstGeom>
          <a:solidFill>
            <a:srgbClr val="00E5FF">
              <a:alpha val="7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07147" y="1737360"/>
            <a:ext cx="296266" cy="82296"/>
          </a:xfrm>
          <a:prstGeom prst="rect">
            <a:avLst/>
          </a:prstGeom>
          <a:solidFill>
            <a:srgbClr val="00E5FF">
              <a:alpha val="54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₹24,999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25420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66C3C9-8933-49D8-8D6D-BB79B5871C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5000"/>
                    </a14:imgEffect>
                  </a14:imgLayer>
                </a14:imgProps>
              </a:ext>
            </a:extLst>
          </a:blip>
          <a:srcRect t="16931" b="14931"/>
          <a:stretch/>
        </p:blipFill>
        <p:spPr>
          <a:xfrm>
            <a:off x="38616" y="43478"/>
            <a:ext cx="1470144" cy="1008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206240" cy="1097280"/>
          </a:xfrm>
          <a:prstGeom prst="rect">
            <a:avLst/>
          </a:prstGeom>
          <a:solidFill>
            <a:srgbClr val="111D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64008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01 — Dataset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specs including RAM, memory, camera, battery, processor, and price across multiple brands.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4206240" cy="1097280"/>
          </a:xfrm>
          <a:prstGeom prst="rect">
            <a:avLst/>
          </a:prstGeom>
          <a:solidFill>
            <a:srgbClr val="111D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468880"/>
            <a:ext cx="64008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02 — Exploratory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brand-level pricing patterns, and outlier detection.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4206240" cy="1097280"/>
          </a:xfrm>
          <a:prstGeom prst="rect">
            <a:avLst/>
          </a:prstGeom>
          <a:solidFill>
            <a:srgbClr val="111D3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703320"/>
            <a:ext cx="64008" cy="1097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13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03 — Feature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087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extraction from text, processor tier classification, 5G detection, brand encoding.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4206240" cy="1097280"/>
          </a:xfrm>
          <a:prstGeom prst="rect">
            <a:avLst/>
          </a:prstGeom>
          <a:solidFill>
            <a:srgbClr val="111D3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234440"/>
            <a:ext cx="64008" cy="10972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344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04 — Model Building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18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trained, evaluated: Linear, Ridge, Decision Tree, Random Forest, Gradient Boosting.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4206240" cy="1097280"/>
          </a:xfrm>
          <a:prstGeom prst="rect">
            <a:avLst/>
          </a:prstGeom>
          <a:solidFill>
            <a:srgbClr val="111D3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468880"/>
            <a:ext cx="64008" cy="10972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05 — Feature Importance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852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which hardware specs most influence price using Random Forest importances.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4206240" cy="1097280"/>
          </a:xfrm>
          <a:prstGeom prst="rect">
            <a:avLst/>
          </a:prstGeom>
          <a:solidFill>
            <a:srgbClr val="111D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703320"/>
            <a:ext cx="64008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813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06 — Recommendations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087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data-driven business recommendations for pricing strategy and product positioning.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captures 11 key attributes of mobile phones across multiple brands, models and configurations. Each row represents a unique device SKU.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4114800" cy="2926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+ model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storage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of 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Camera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 + text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Camera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 + text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Chipset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— prediction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115568"/>
            <a:ext cx="4023360" cy="192024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234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CHALLENGES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0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Camera specs stored as free text — required regex extraction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865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Processor field mixed brand names + model numbers — required tier classification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Missing values in Battery, RAM, Memory — handled via dropna on critical fields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2633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Price outliers (feature phones, accessories) removed via threshold filtering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3182112"/>
            <a:ext cx="1920240" cy="804672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892040" y="3803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03720" y="3182112"/>
            <a:ext cx="1920240" cy="804672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949440" y="3803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46320" y="4041648"/>
            <a:ext cx="1920240" cy="804672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4151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892040" y="4663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03720" y="4041648"/>
            <a:ext cx="1920240" cy="804672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4151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6949440" y="4663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(Price)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EXPLORATORY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EDA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023360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64008" cy="1371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Price Distribution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237744" cy="91440"/>
          </a:xfrm>
          <a:prstGeom prst="rect">
            <a:avLst/>
          </a:prstGeom>
          <a:solidFill>
            <a:srgbClr val="00E5FF">
              <a:alpha val="44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237744" cy="182880"/>
          </a:xfrm>
          <a:prstGeom prst="rect">
            <a:avLst/>
          </a:prstGeom>
          <a:solidFill>
            <a:srgbClr val="00E5FF">
              <a:alpha val="5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714500"/>
            <a:ext cx="237744" cy="342900"/>
          </a:xfrm>
          <a:prstGeom prst="rect">
            <a:avLst/>
          </a:prstGeom>
          <a:solidFill>
            <a:srgbClr val="00E5FF">
              <a:alpha val="8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600200"/>
            <a:ext cx="237744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691640"/>
            <a:ext cx="237744" cy="365760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805940"/>
            <a:ext cx="237744" cy="251460"/>
          </a:xfrm>
          <a:prstGeom prst="rect">
            <a:avLst/>
          </a:prstGeom>
          <a:solidFill>
            <a:srgbClr val="00E5FF">
              <a:alpha val="69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897380"/>
            <a:ext cx="237744" cy="160020"/>
          </a:xfrm>
          <a:prstGeom prst="rect">
            <a:avLst/>
          </a:prstGeom>
          <a:solidFill>
            <a:srgbClr val="00E5FF">
              <a:alpha val="54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956816"/>
            <a:ext cx="237744" cy="100584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002536"/>
            <a:ext cx="237744" cy="54864"/>
          </a:xfrm>
          <a:prstGeom prst="rect">
            <a:avLst/>
          </a:prstGeom>
          <a:solidFill>
            <a:srgbClr val="00E5FF">
              <a:alpha val="3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121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distribution. Majority of phones priced ₹8k–₹25k. Premium segment (&gt;₹60k) is sparse but influential.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4023360" cy="2103120"/>
          </a:xfrm>
          <a:prstGeom prst="rect">
            <a:avLst/>
          </a:prstGeom>
          <a:solidFill>
            <a:srgbClr val="111D3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97480"/>
            <a:ext cx="64008" cy="21031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07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Top Correlations with Price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090672"/>
            <a:ext cx="267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0420" y="3090672"/>
            <a:ext cx="891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273552"/>
            <a:ext cx="356616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273552"/>
            <a:ext cx="278160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419856"/>
            <a:ext cx="267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0420" y="3419856"/>
            <a:ext cx="891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3602736"/>
            <a:ext cx="356616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602736"/>
            <a:ext cx="2531974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749040"/>
            <a:ext cx="267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Tier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0420" y="3749040"/>
            <a:ext cx="891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3931920"/>
            <a:ext cx="356616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3931920"/>
            <a:ext cx="2424989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078224"/>
            <a:ext cx="267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 MP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0420" y="4078224"/>
            <a:ext cx="891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4261104"/>
            <a:ext cx="356616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261104"/>
            <a:ext cx="1925726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407408"/>
            <a:ext cx="267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60420" y="4407408"/>
            <a:ext cx="891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" y="4590288"/>
            <a:ext cx="356616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4590288"/>
            <a:ext cx="1105510" cy="109728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1188720"/>
            <a:ext cx="4023360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1188720"/>
            <a:ext cx="64008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1298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5G Premium Insight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0" y="1572768"/>
            <a:ext cx="1280160" cy="594360"/>
          </a:xfrm>
          <a:prstGeom prst="rect">
            <a:avLst/>
          </a:prstGeom>
          <a:solidFill>
            <a:srgbClr val="0D1524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16276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8B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₹14.2K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29200" y="19476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AVG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903720" y="1572768"/>
            <a:ext cx="1280160" cy="594360"/>
          </a:xfrm>
          <a:prstGeom prst="rect">
            <a:avLst/>
          </a:prstGeom>
          <a:solidFill>
            <a:srgbClr val="0D15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16276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₹28.6K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903720" y="19476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AVG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devices command a ~2× price premium on average. 5G is currently a strong tier differentiator.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2697480"/>
            <a:ext cx="4023360" cy="1508760"/>
          </a:xfrm>
          <a:prstGeom prst="rect">
            <a:avLst/>
          </a:prstGeom>
          <a:solidFill>
            <a:srgbClr val="111D3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2697480"/>
            <a:ext cx="64008" cy="15087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2807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Brand Pricing Power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0" y="30906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97880" y="3154680"/>
            <a:ext cx="2286000" cy="914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97880" y="3154680"/>
            <a:ext cx="2240280" cy="91440"/>
          </a:xfrm>
          <a:prstGeom prst="rect">
            <a:avLst/>
          </a:prstGeom>
          <a:solidFill>
            <a:srgbClr val="FFD93D">
              <a:alpha val="7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309067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₹85K+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0" y="33649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97880" y="3429000"/>
            <a:ext cx="2286000" cy="914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97880" y="3429000"/>
            <a:ext cx="1645920" cy="91440"/>
          </a:xfrm>
          <a:prstGeom prst="rect">
            <a:avLst/>
          </a:prstGeom>
          <a:solidFill>
            <a:srgbClr val="FFD93D">
              <a:alpha val="7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33649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₹38K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29200" y="36393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OnePlus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897880" y="3703320"/>
            <a:ext cx="2286000" cy="914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97880" y="3703320"/>
            <a:ext cx="1325880" cy="91440"/>
          </a:xfrm>
          <a:prstGeom prst="rect">
            <a:avLst/>
          </a:prstGeom>
          <a:solidFill>
            <a:srgbClr val="FFD93D">
              <a:alpha val="7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0" y="36393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₹28K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2920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897880" y="3977640"/>
            <a:ext cx="2286000" cy="91440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97880" y="3977640"/>
            <a:ext cx="685800" cy="91440"/>
          </a:xfrm>
          <a:prstGeom prst="rect">
            <a:avLst/>
          </a:prstGeom>
          <a:solidFill>
            <a:srgbClr val="FFD93D">
              <a:alpha val="7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39136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₹12K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4297680"/>
            <a:ext cx="4023360" cy="502920"/>
          </a:xfrm>
          <a:prstGeom prst="rect">
            <a:avLst/>
          </a:prstGeom>
          <a:solidFill>
            <a:srgbClr val="111D3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46320" y="4297680"/>
            <a:ext cx="64008" cy="5029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3708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Memory Sweet Spot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29200" y="45537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128→256GB adds a disproportionate ₹5K–₹10K premium.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required 4 custom transformations to convert unstructured text and categorical fields into model-ready numeric features.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84048" cy="384048"/>
          </a:xfrm>
          <a:prstGeom prst="ellipse">
            <a:avLst/>
          </a:prstGeom>
          <a:solidFill>
            <a:srgbClr val="111D3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8249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" y="2048256"/>
            <a:ext cx="54864" cy="40233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MP Extraction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applied to extract lead megapixel count from strings like "48MP + 8MP Ultra Wide". Separate Rear_MP and Front_MP columns created.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384048" cy="384048"/>
          </a:xfrm>
          <a:prstGeom prst="ellipse">
            <a:avLst/>
          </a:prstGeom>
          <a:solidFill>
            <a:srgbClr val="111D3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" y="2852928"/>
            <a:ext cx="54864" cy="40233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505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Tier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lookup classifies chipsets into 3 tiers: Premium=2 (Snapdragon 8xx), Mid=1 (SD 6xx/7xx), Entry=0.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255264"/>
            <a:ext cx="384048" cy="384048"/>
          </a:xfrm>
          <a:prstGeom prst="ellipse">
            <a:avLst/>
          </a:prstGeom>
          <a:solidFill>
            <a:srgbClr val="111D30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9184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3657600"/>
            <a:ext cx="54864" cy="40233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5526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Flag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48386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Is_5G column derived from model name string matching AND processor keyword matching.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59936"/>
            <a:ext cx="384048" cy="384048"/>
          </a:xfrm>
          <a:prstGeom prst="ellipse">
            <a:avLst/>
          </a:prstGeom>
          <a:solidFill>
            <a:srgbClr val="111D30"/>
          </a:solidFill>
          <a:ln w="25400">
            <a:solidFill>
              <a:srgbClr val="FFD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965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0599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Label Encoding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2885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extracted from first token of Model field. LabelEncoder applied to convert brand strings to ordinal integers.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115568"/>
            <a:ext cx="4023360" cy="370332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234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FEATURE SET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1508760"/>
            <a:ext cx="3566160" cy="274320"/>
          </a:xfrm>
          <a:prstGeom prst="rect">
            <a:avLst/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5453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15453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1833372"/>
            <a:ext cx="3566160" cy="274320"/>
          </a:xfrm>
          <a:prstGeom prst="rect">
            <a:avLst/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8699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186994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157984"/>
            <a:ext cx="3566160" cy="274320"/>
          </a:xfrm>
          <a:prstGeom prst="rect">
            <a:avLst/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194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219456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2482596"/>
            <a:ext cx="3566160" cy="274320"/>
          </a:xfrm>
          <a:prstGeom prst="rect">
            <a:avLst/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25191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AI_Lens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5191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2807208"/>
            <a:ext cx="3566160" cy="274320"/>
          </a:xfrm>
          <a:prstGeom prst="rect">
            <a:avLst/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2843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Mobile_Height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84378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3131820"/>
            <a:ext cx="3566160" cy="274320"/>
          </a:xfrm>
          <a:prstGeom prst="rect">
            <a:avLst/>
          </a:prstGeom>
          <a:solidFill>
            <a:srgbClr val="0D082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1683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Rear_MP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16839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0" y="3456432"/>
            <a:ext cx="3566160" cy="274320"/>
          </a:xfrm>
          <a:prstGeom prst="rect">
            <a:avLst/>
          </a:prstGeom>
          <a:solidFill>
            <a:srgbClr val="0D082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3493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Front_MP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3493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3781044"/>
            <a:ext cx="3566160" cy="274320"/>
          </a:xfrm>
          <a:prstGeom prst="rect">
            <a:avLst/>
          </a:prstGeom>
          <a:solidFill>
            <a:srgbClr val="0D082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38176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Processor_Tier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0" y="381762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0" y="4105656"/>
            <a:ext cx="3566160" cy="274320"/>
          </a:xfrm>
          <a:prstGeom prst="rect">
            <a:avLst/>
          </a:prstGeom>
          <a:solidFill>
            <a:srgbClr val="0D082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1422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Is_5G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0" y="41422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0" y="4430268"/>
            <a:ext cx="3566160" cy="274320"/>
          </a:xfrm>
          <a:prstGeom prst="rect">
            <a:avLst/>
          </a:prstGeom>
          <a:solidFill>
            <a:srgbClr val="0D082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44668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Campany_Encoding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32320" y="446684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COMPARISON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37125"/>
              </p:ext>
            </p:extLst>
          </p:nvPr>
        </p:nvGraphicFramePr>
        <p:xfrm>
          <a:off x="502920" y="1170432"/>
          <a:ext cx="4114800" cy="20360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 Score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R²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 (₹)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A8B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A8B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A8B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4,098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3,447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B6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B6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B6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2,327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F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F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F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1,949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1,905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401568"/>
            <a:ext cx="4114800" cy="1417320"/>
          </a:xfrm>
          <a:prstGeom prst="rect">
            <a:avLst/>
          </a:prstGeom>
          <a:solidFill>
            <a:srgbClr val="111D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3401568"/>
            <a:ext cx="64008" cy="1417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685800" y="35112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RANDOM FOREST WINS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3767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Handles non-linear relationships between specs and price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40142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Robust to outliers in camera MP &amp; battery fields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261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Ensemble of 200+ trees reduces overfitting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45079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feature importance for interpretability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170432"/>
            <a:ext cx="4023360" cy="210312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298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SCORE COMPARISON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0" y="1572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49640" y="15727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1773936"/>
            <a:ext cx="3749040" cy="8229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0" y="1773936"/>
            <a:ext cx="2324405" cy="82296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18928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49640" y="18928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0" y="2093976"/>
            <a:ext cx="3749040" cy="8229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0" y="2093976"/>
            <a:ext cx="2436876" cy="822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2212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49640" y="221284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0" y="2414016"/>
            <a:ext cx="3749040" cy="8229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29200" y="2414016"/>
            <a:ext cx="2961742" cy="8229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2532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549640" y="25328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0" y="2734056"/>
            <a:ext cx="3749040" cy="8229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0" y="2734056"/>
            <a:ext cx="3486607" cy="8229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549640" y="28529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0" y="3054096"/>
            <a:ext cx="3749040" cy="82296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0" y="3054096"/>
            <a:ext cx="3411626" cy="822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6320" y="3401568"/>
            <a:ext cx="1920240" cy="100584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35112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3800" dirty="0"/>
          </a:p>
        </p:txBody>
      </p:sp>
      <p:sp>
        <p:nvSpPr>
          <p:cNvPr id="36" name="Text 33"/>
          <p:cNvSpPr/>
          <p:nvPr/>
        </p:nvSpPr>
        <p:spPr>
          <a:xfrm>
            <a:off x="489204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R²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903720" y="3401568"/>
            <a:ext cx="1965960" cy="100584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9440" y="351129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₹1,949</a:t>
            </a:r>
            <a:endParaRPr lang="en-US" sz="3600" dirty="0"/>
          </a:p>
        </p:txBody>
      </p:sp>
      <p:sp>
        <p:nvSpPr>
          <p:cNvPr id="39" name="Text 36"/>
          <p:cNvSpPr/>
          <p:nvPr/>
        </p:nvSpPr>
        <p:spPr>
          <a:xfrm>
            <a:off x="6949440" y="40233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Error (MAE)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importances reveal which hardware specs are the true price drivers vs. hygiene factors.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160020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34.9%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37944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37944"/>
            <a:ext cx="3094330" cy="10972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cs typeface="Calibri" pitchFamily="34" charset="-120"/>
              </a:rPr>
              <a:t>Front Camera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0391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276856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276856"/>
            <a:ext cx="2435962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7802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4780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(Storage)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247802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715768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715768"/>
            <a:ext cx="1613002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169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9169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8EFF8"/>
                </a:solidFill>
                <a:latin typeface="Calibri" pitchFamily="34" charset="0"/>
                <a:cs typeface="Calibri" pitchFamily="34" charset="-120"/>
              </a:rPr>
              <a:t>Processor_Tier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71800" y="291693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154680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154680"/>
            <a:ext cx="144841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5584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355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71800" y="33558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3593592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593592"/>
            <a:ext cx="921715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947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7947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3794760"/>
            <a:ext cx="685800" cy="13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4032504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032504"/>
            <a:ext cx="559613" cy="109728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336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4233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Others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4471416"/>
            <a:ext cx="3291840" cy="109728"/>
          </a:xfrm>
          <a:prstGeom prst="rect">
            <a:avLst/>
          </a:prstGeom>
          <a:solidFill>
            <a:srgbClr val="1E2E4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471416"/>
            <a:ext cx="329184" cy="109728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1115568"/>
            <a:ext cx="4023360" cy="164592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1115568"/>
            <a:ext cx="4023360" cy="1645920"/>
          </a:xfrm>
          <a:prstGeom prst="rect">
            <a:avLst/>
          </a:prstGeom>
          <a:solidFill>
            <a:srgbClr val="0D0A0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1234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INSIGHT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1481328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features — Battery, Front Camera, Memory — account for 69.5% of all price variation. Processor and 5G specs add the next 9.9%. 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880360"/>
            <a:ext cx="4023360" cy="1627632"/>
          </a:xfrm>
          <a:prstGeom prst="rect">
            <a:avLst/>
          </a:prstGeom>
          <a:solidFill>
            <a:srgbClr val="111D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880360"/>
            <a:ext cx="64008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2990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32186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Battery is king — the single most powerful price predictor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34564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RAM 4→8GB jump creates strongest visible price gap to consumers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0" y="36941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128→256GB storage adds disproportionate ₹5K–10K premium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0" y="39319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5G is becoming table stakes — premium narrowing year-over-year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41696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Lens has &lt;2% importance — currently a marketing term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4572000"/>
            <a:ext cx="1920240" cy="475488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4590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69.5%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4846320" y="4846320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FEATURES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49440" y="4572000"/>
            <a:ext cx="1920240" cy="475488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4590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&lt;2%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6949440" y="4846320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 IMPACT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64008" cy="8686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98448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" y="12801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Processor Tier in Marketing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4712" y="152704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is the #1 price predictor (28.4%). Prominently feature chipset names (Snapdragon 8, Dimensity) in ads to justify premium pricing.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48840"/>
            <a:ext cx="64008" cy="8686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258568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24712" y="224028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RAM Configuration 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" y="248716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6GB/8GB as key upgrade tiers. The RAM-to-price relationship is strong (r=0.78) — use tiered RAM as a primary upsell lever.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08960"/>
            <a:ext cx="64008" cy="8686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1868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4712" y="320040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256GB Storage at a Premium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" y="3447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128GB is the commodity baseline. The 128→256GB jump creates a disproportionate ₹5K–10K premium opportunity — position accordingly.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69080"/>
            <a:ext cx="64008" cy="8686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17880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24712" y="416052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Brand Equity Building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4712" y="440740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accounts for 13.2% of price variation independently. Long-term brand investments directly expand pricing power and margins.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188720"/>
            <a:ext cx="64008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7" y="1298448"/>
            <a:ext cx="69931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68112" y="12801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AI Lens Marketing ROI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68112" y="152704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 has &lt;2% price impact. Avoid over-investing in AI camera feature development as a pricing driver; it doesn't move the needle.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14884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148840"/>
            <a:ext cx="64008" cy="8686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7" y="2258568"/>
            <a:ext cx="60986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68112" y="224028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Price Prediction as a Tool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68112" y="248716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trained Random Forest model into product planning pipelines to simulate competitive pricing before launch.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10896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108960"/>
            <a:ext cx="64008" cy="8686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218688"/>
            <a:ext cx="6098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68112" y="320040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5G in Mid-Range Segment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68112" y="3447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adds meaningful differentiation in the ₹15K–₹30K segment. As 5G commoditises in premium, mid-range 5G is the growth opportunity.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069080"/>
            <a:ext cx="4206240" cy="868680"/>
          </a:xfrm>
          <a:prstGeom prst="rect">
            <a:avLst/>
          </a:prstGeom>
          <a:solidFill>
            <a:srgbClr val="111D3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4069080"/>
            <a:ext cx="64008" cy="8686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178808"/>
            <a:ext cx="6098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68112" y="416052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Quality Over Megapixel Count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68112" y="440740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count (8.5% importance) is less than processor+RAM combined. Market camera quality, aperture, and AI processing — not raw MP specs.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EF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02920" y="2084832"/>
            <a:ext cx="1965960" cy="91440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2084832"/>
            <a:ext cx="1965960" cy="91440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97480" y="270662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2084832"/>
            <a:ext cx="1965960" cy="91440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46320" y="270662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2084832"/>
            <a:ext cx="1965960" cy="914400"/>
          </a:xfrm>
          <a:prstGeom prst="rect">
            <a:avLst/>
          </a:prstGeom>
          <a:solidFill>
            <a:srgbClr val="111D30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95160" y="270662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4160520" cy="1810512"/>
          </a:xfrm>
          <a:prstGeom prst="rect">
            <a:avLst/>
          </a:prstGeom>
          <a:solidFill>
            <a:srgbClr val="00121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data cleaning &amp; feature engineering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124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with price distribution, correlation &amp; brand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950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models trained, compared, tuned via GridSearchCV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879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selected as best model (R²=0.93)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4256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 importance ranked &amp; visualized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6634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serialized &amp; ready for production 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127248"/>
            <a:ext cx="4023360" cy="1810512"/>
          </a:xfrm>
          <a:prstGeom prst="rect">
            <a:avLst/>
          </a:prstGeom>
          <a:solidFill>
            <a:srgbClr val="001008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2369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3 PRICE DRIVERS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4930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4930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— 34.9%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37124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96849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0" y="39684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 — 42.8%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44439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🥉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86400" y="44439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Memory — 9.8%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1208</Words>
  <Application>Microsoft Office PowerPoint</Application>
  <PresentationFormat>On-screen Show (16:9)</PresentationFormat>
  <Paragraphs>291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Price Prediction</dc:title>
  <dc:subject>PptxGenJS Presentation</dc:subject>
  <dc:creator>ML Project 2026</dc:creator>
  <cp:lastModifiedBy>Jitin</cp:lastModifiedBy>
  <cp:revision>6</cp:revision>
  <dcterms:created xsi:type="dcterms:W3CDTF">2026-03-08T16:05:46Z</dcterms:created>
  <dcterms:modified xsi:type="dcterms:W3CDTF">2026-03-08T17:41:29Z</dcterms:modified>
</cp:coreProperties>
</file>